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D33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F2D33"/>
                </a:solidFill>
                <a:latin typeface="Calibri"/>
              </a:rPr>
              <a:t>Revenue by category (USD)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C7C8C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F2D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Clothing</c:v>
                  </c:pt>
                  <c:pt idx="1">
                    <c:v>Accessories</c:v>
                  </c:pt>
                  <c:pt idx="2">
                    <c:v>Footwear</c:v>
                  </c:pt>
                  <c:pt idx="3">
                    <c:v>Outerwear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104264</c:v>
                </c:pt>
                <c:pt idx="1">
                  <c:v>74200</c:v>
                </c:pt>
                <c:pt idx="2">
                  <c:v>36093</c:v>
                </c:pt>
                <c:pt idx="3">
                  <c:v>18524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F2D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E1E4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D33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F2D33"/>
                </a:solidFill>
                <a:latin typeface="Calibri"/>
              </a:rPr>
              <a:t>Revenue by age group (USD)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C7C8C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F2D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Young Adult</c:v>
                  </c:pt>
                  <c:pt idx="1">
                    <c:v>Middle-aged</c:v>
                  </c:pt>
                  <c:pt idx="2">
                    <c:v>Adult</c:v>
                  </c:pt>
                  <c:pt idx="3">
                    <c:v>Senior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62143</c:v>
                </c:pt>
                <c:pt idx="1">
                  <c:v>59197</c:v>
                </c:pt>
                <c:pt idx="2">
                  <c:v>55978</c:v>
                </c:pt>
                <c:pt idx="3">
                  <c:v>55763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F2D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E1E4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15544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Behaviour Analysis</a:t>
            </a:r>
            <a:endParaRPr lang="en-US" sz="44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265176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revenue across 3,900 purchases: insights from SQL and Power BI</a:t>
            </a:r>
            <a:endParaRPr lang="en-US" sz="2000" dirty="0"/>
          </a:p>
        </p:txBody>
      </p:sp>
      <p:sp>
        <p:nvSpPr>
          <p:cNvPr id="4" name="Tools"/>
          <p:cNvSpPr txBox="1"/>
          <p:nvPr/>
        </p:nvSpPr>
        <p:spPr>
          <a:xfrm>
            <a:off x="54864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A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|  MySQL  |  Power BI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at a glance</a:t>
            </a:r>
            <a:endParaRPr lang="en-US" sz="3400" dirty="0"/>
          </a:p>
        </p:txBody>
      </p:sp>
      <p:sp>
        <p:nvSpPr>
          <p:cNvPr id="3" name="Stat card 1"/>
          <p:cNvSpPr/>
          <p:nvPr/>
        </p:nvSpPr>
        <p:spPr>
          <a:xfrm>
            <a:off x="457200" y="1371600"/>
            <a:ext cx="1920240" cy="1645920"/>
          </a:xfrm>
          <a:prstGeom prst="roundRect">
            <a:avLst>
              <a:gd name="adj" fmla="val 4444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4" name="Stat value 1"/>
          <p:cNvSpPr txBox="1"/>
          <p:nvPr/>
        </p:nvSpPr>
        <p:spPr>
          <a:xfrm>
            <a:off x="457200" y="15087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3,900</a:t>
            </a:r>
            <a:endParaRPr lang="en-US" sz="3200" dirty="0"/>
          </a:p>
        </p:txBody>
      </p:sp>
      <p:sp>
        <p:nvSpPr>
          <p:cNvPr id="5" name="Stat label 1"/>
          <p:cNvSpPr txBox="1"/>
          <p:nvPr/>
        </p:nvSpPr>
        <p:spPr>
          <a:xfrm>
            <a:off x="457200" y="2331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400" dirty="0"/>
          </a:p>
        </p:txBody>
      </p:sp>
      <p:sp>
        <p:nvSpPr>
          <p:cNvPr id="6" name="Stat card 2"/>
          <p:cNvSpPr/>
          <p:nvPr/>
        </p:nvSpPr>
        <p:spPr>
          <a:xfrm>
            <a:off x="2560320" y="1371600"/>
            <a:ext cx="1920240" cy="1645920"/>
          </a:xfrm>
          <a:prstGeom prst="roundRect">
            <a:avLst>
              <a:gd name="adj" fmla="val 4444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7" name="Stat value 2"/>
          <p:cNvSpPr txBox="1"/>
          <p:nvPr/>
        </p:nvSpPr>
        <p:spPr>
          <a:xfrm>
            <a:off x="2560320" y="15087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$233K</a:t>
            </a:r>
            <a:endParaRPr lang="en-US" sz="3200" dirty="0"/>
          </a:p>
        </p:txBody>
      </p:sp>
      <p:sp>
        <p:nvSpPr>
          <p:cNvPr id="8" name="Stat label 2"/>
          <p:cNvSpPr txBox="1"/>
          <p:nvPr/>
        </p:nvSpPr>
        <p:spPr>
          <a:xfrm>
            <a:off x="2560320" y="2331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400" dirty="0"/>
          </a:p>
        </p:txBody>
      </p:sp>
      <p:sp>
        <p:nvSpPr>
          <p:cNvPr id="9" name="Stat card 3"/>
          <p:cNvSpPr/>
          <p:nvPr/>
        </p:nvSpPr>
        <p:spPr>
          <a:xfrm>
            <a:off x="4663440" y="1371600"/>
            <a:ext cx="1920240" cy="1645920"/>
          </a:xfrm>
          <a:prstGeom prst="roundRect">
            <a:avLst>
              <a:gd name="adj" fmla="val 4444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10" name="Stat value 3"/>
          <p:cNvSpPr txBox="1"/>
          <p:nvPr/>
        </p:nvSpPr>
        <p:spPr>
          <a:xfrm>
            <a:off x="4663440" y="15087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$59.76</a:t>
            </a:r>
            <a:endParaRPr lang="en-US" sz="3200" dirty="0"/>
          </a:p>
        </p:txBody>
      </p:sp>
      <p:sp>
        <p:nvSpPr>
          <p:cNvPr id="11" name="Stat label 3"/>
          <p:cNvSpPr txBox="1"/>
          <p:nvPr/>
        </p:nvSpPr>
        <p:spPr>
          <a:xfrm>
            <a:off x="4663440" y="2331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purchase</a:t>
            </a:r>
            <a:endParaRPr lang="en-US" sz="1400" dirty="0"/>
          </a:p>
        </p:txBody>
      </p:sp>
      <p:sp>
        <p:nvSpPr>
          <p:cNvPr id="12" name="Stat card 4"/>
          <p:cNvSpPr/>
          <p:nvPr/>
        </p:nvSpPr>
        <p:spPr>
          <a:xfrm>
            <a:off x="6766560" y="1371600"/>
            <a:ext cx="1920240" cy="1645920"/>
          </a:xfrm>
          <a:prstGeom prst="roundRect">
            <a:avLst>
              <a:gd name="adj" fmla="val 4444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13" name="Stat value 4"/>
          <p:cNvSpPr txBox="1"/>
          <p:nvPr/>
        </p:nvSpPr>
        <p:spPr>
          <a:xfrm>
            <a:off x="6766560" y="15087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3.75 / 5</a:t>
            </a:r>
            <a:endParaRPr lang="en-US" sz="3200" dirty="0"/>
          </a:p>
        </p:txBody>
      </p:sp>
      <p:sp>
        <p:nvSpPr>
          <p:cNvPr id="14" name="Stat label 4"/>
          <p:cNvSpPr txBox="1"/>
          <p:nvPr/>
        </p:nvSpPr>
        <p:spPr>
          <a:xfrm>
            <a:off x="6766560" y="2331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review rating</a:t>
            </a:r>
            <a:endParaRPr lang="en-US" sz="1400" dirty="0"/>
          </a:p>
        </p:txBody>
      </p:sp>
      <p:sp>
        <p:nvSpPr>
          <p:cNvPr id="15" name="Workflow note"/>
          <p:cNvSpPr txBox="1"/>
          <p:nvPr/>
        </p:nvSpPr>
        <p:spPr>
          <a:xfrm>
            <a:off x="457200" y="3383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in Python: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missing ratings filled with the category median, duplicate promo column dropped, age quartile groups added.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Analysed in MySQL: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business questions. </a:t>
            </a:r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Visualised in Power BI: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interactive page.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Clothing and Accessories drive 77% of revenue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280160"/>
          <a:ext cx="51206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Insight card"/>
          <p:cNvSpPr/>
          <p:nvPr/>
        </p:nvSpPr>
        <p:spPr>
          <a:xfrm>
            <a:off x="5852160" y="1371600"/>
            <a:ext cx="2834640" cy="3108960"/>
          </a:xfrm>
          <a:prstGeom prst="roundRect">
            <a:avLst>
              <a:gd name="adj" fmla="val 2581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5" name="Insight text"/>
          <p:cNvSpPr txBox="1"/>
          <p:nvPr/>
        </p:nvSpPr>
        <p:spPr>
          <a:xfrm>
            <a:off x="6035040" y="1554480"/>
            <a:ext cx="2468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Clothing: 44.7%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Accessories: 31.8%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Footwear: 15.5%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Outerwear: 7.9%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Outerwear has only two products (Jacket, Coat), so it stays the smallest category.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Spending is even across age and gender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280160"/>
          <a:ext cx="47548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Male card"/>
          <p:cNvSpPr/>
          <p:nvPr/>
        </p:nvSpPr>
        <p:spPr>
          <a:xfrm>
            <a:off x="5486400" y="1371600"/>
            <a:ext cx="3200400" cy="1371600"/>
          </a:xfrm>
          <a:prstGeom prst="roundRect">
            <a:avLst>
              <a:gd name="adj" fmla="val 5333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5" name="Female card"/>
          <p:cNvSpPr/>
          <p:nvPr/>
        </p:nvSpPr>
        <p:spPr>
          <a:xfrm>
            <a:off x="5486400" y="2926080"/>
            <a:ext cx="3200400" cy="1554480"/>
          </a:xfrm>
          <a:prstGeom prst="roundRect">
            <a:avLst>
              <a:gd name="adj" fmla="val 4706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6" name="Male text"/>
          <p:cNvSpPr txBox="1"/>
          <p:nvPr/>
        </p:nvSpPr>
        <p:spPr>
          <a:xfrm>
            <a:off x="5669280" y="15087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Male: $157,890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 of customers, $59.54 avg spend</a:t>
            </a:r>
            <a:endParaRPr lang="en-US" sz="2000" dirty="0"/>
          </a:p>
        </p:txBody>
      </p:sp>
      <p:sp>
        <p:nvSpPr>
          <p:cNvPr id="7" name="Female text"/>
          <p:cNvSpPr txBox="1"/>
          <p:nvPr/>
        </p:nvSpPr>
        <p:spPr>
          <a:xfrm>
            <a:off x="5669280" y="306324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Female: $75,191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 of customers, $60.25 avg spend. Revenue gap comes from customer count, not spend per purchase.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Loyal base, but subscriptions add little</a:t>
            </a:r>
            <a:endParaRPr lang="en-US" sz="3400" dirty="0"/>
          </a:p>
        </p:txBody>
      </p:sp>
      <p:sp>
        <p:nvSpPr>
          <p:cNvPr id="3" name="Column card 1"/>
          <p:cNvSpPr/>
          <p:nvPr/>
        </p:nvSpPr>
        <p:spPr>
          <a:xfrm>
            <a:off x="457200" y="137160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4" name="Column head 1"/>
          <p:cNvSpPr txBox="1"/>
          <p:nvPr/>
        </p:nvSpPr>
        <p:spPr>
          <a:xfrm>
            <a:off x="640080" y="1554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 Loyal</a:t>
            </a:r>
            <a:endParaRPr lang="en-US" sz="2400" dirty="0"/>
          </a:p>
        </p:txBody>
      </p:sp>
      <p:sp>
        <p:nvSpPr>
          <p:cNvPr id="5" name="Column body 1"/>
          <p:cNvSpPr txBox="1"/>
          <p:nvPr/>
        </p:nvSpPr>
        <p:spPr>
          <a:xfrm>
            <a:off x="640080" y="246888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3,116 of 3,900 customers have more than 10 previous purchases. Only 2% are new.</a:t>
            </a:r>
            <a:endParaRPr lang="en-US" sz="1500" dirty="0"/>
          </a:p>
        </p:txBody>
      </p:sp>
      <p:sp>
        <p:nvSpPr>
          <p:cNvPr id="6" name="Column card 2"/>
          <p:cNvSpPr/>
          <p:nvPr/>
        </p:nvSpPr>
        <p:spPr>
          <a:xfrm>
            <a:off x="3291840" y="137160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7" name="Column head 2"/>
          <p:cNvSpPr txBox="1"/>
          <p:nvPr/>
        </p:nvSpPr>
        <p:spPr>
          <a:xfrm>
            <a:off x="3474720" y="1554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subscriber lift</a:t>
            </a:r>
            <a:endParaRPr lang="en-US" sz="2400" dirty="0"/>
          </a:p>
        </p:txBody>
      </p:sp>
      <p:sp>
        <p:nvSpPr>
          <p:cNvPr id="8" name="Column body 2"/>
          <p:cNvSpPr txBox="1"/>
          <p:nvPr/>
        </p:nvSpPr>
        <p:spPr>
          <a:xfrm>
            <a:off x="3474720" y="246888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 spend $59.49 vs $59.87. Repeat buyers subscribe at 27.6%, vs 27.0% overall.</a:t>
            </a:r>
            <a:endParaRPr lang="en-US" sz="1500" dirty="0"/>
          </a:p>
        </p:txBody>
      </p:sp>
      <p:sp>
        <p:nvSpPr>
          <p:cNvPr id="9" name="Column card 3"/>
          <p:cNvSpPr/>
          <p:nvPr/>
        </p:nvSpPr>
        <p:spPr>
          <a:xfrm>
            <a:off x="6126480" y="137160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10" name="Column head 3"/>
          <p:cNvSpPr txBox="1"/>
          <p:nvPr/>
        </p:nvSpPr>
        <p:spPr>
          <a:xfrm>
            <a:off x="6309360" y="1554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43% use discounts</a:t>
            </a:r>
            <a:endParaRPr lang="en-US" sz="2400" dirty="0"/>
          </a:p>
        </p:txBody>
      </p:sp>
      <p:sp>
        <p:nvSpPr>
          <p:cNvPr id="11" name="Column body 3"/>
          <p:cNvSpPr txBox="1"/>
          <p:nvPr/>
        </p:nvSpPr>
        <p:spPr>
          <a:xfrm>
            <a:off x="6309360" y="246888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839 of 1,677 discounted purchases were above average, at $79.79 on average.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Power BI dashboard</a:t>
            </a:r>
            <a:endParaRPr lang="en-US" sz="3400" dirty="0"/>
          </a:p>
        </p:txBody>
      </p:sp>
      <p:pic>
        <p:nvPicPr>
          <p:cNvPr id="3" name="Dashboard screenshot" descr="/mnt/user-data/uploads/Customer_Behavior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669280" cy="3090890"/>
          </a:xfrm>
          <a:prstGeom prst="rect">
            <a:avLst/>
          </a:prstGeom>
        </p:spPr>
      </p:pic>
      <p:sp>
        <p:nvSpPr>
          <p:cNvPr id="4" name="Dashboard notes card"/>
          <p:cNvSpPr/>
          <p:nvPr/>
        </p:nvSpPr>
        <p:spPr>
          <a:xfrm>
            <a:off x="6400800" y="1371600"/>
            <a:ext cx="2286000" cy="3090672"/>
          </a:xfrm>
          <a:prstGeom prst="roundRect">
            <a:avLst>
              <a:gd name="adj" fmla="val 3200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5" name="Dashboard notes"/>
          <p:cNvSpPr txBox="1"/>
          <p:nvPr/>
        </p:nvSpPr>
        <p:spPr>
          <a:xfrm>
            <a:off x="6537960" y="1463040"/>
            <a:ext cx="2011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Customers, avg purchase, avg rating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and sales by category and age group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Subscription, gender, category, shipping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 and next steps</a:t>
            </a:r>
            <a:endParaRPr lang="en-US" sz="3400" dirty="0"/>
          </a:p>
        </p:txBody>
      </p:sp>
      <p:sp>
        <p:nvSpPr>
          <p:cNvPr id="3" name="Takeaways"/>
          <p:cNvSpPr txBox="1"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Clothing and Accessories: they bring in 77% of revenue.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per purchase is nearly the same ($58 to $61) in every group, so customer volume drives revenue.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 subscriber benefit or conversion campaign, since subscribers do not spend more.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discount depth: half of discount users would likely spend above average anyway.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add finer loyalty tiers, a state-level view, and significance tests.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Behaviour Analysis</dc:title>
  <dc:subject>PptxGenJS Presentation</dc:subject>
  <dc:creator>PptxGenJS</dc:creator>
  <cp:lastModifiedBy>PptxGenJS</cp:lastModifiedBy>
  <cp:revision>1</cp:revision>
  <dcterms:created xsi:type="dcterms:W3CDTF">2026-10-09T10:14:35Z</dcterms:created>
  <dcterms:modified xsi:type="dcterms:W3CDTF">2026-10-09T10:14:35Z</dcterms:modified>
</cp:coreProperties>
</file>